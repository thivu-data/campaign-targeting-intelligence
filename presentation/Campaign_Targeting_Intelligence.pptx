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3" dt="2026-09-03T04:25:08.509"/>
    <p1510:client id="{925EAF5E-81AC-F0B1-0D25-338518C285C2}" v="14" dt="2026-09-03T09:15:59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 Vu" userId="S::thi.vu@cfyc.asia::5d77544f-5edb-45e2-950a-06f391cc6ccc" providerId="AD" clId="Web-{925EAF5E-81AC-F0B1-0D25-338518C285C2}"/>
    <pc:docChg chg="modSld">
      <pc:chgData name="Thi Vu" userId="S::thi.vu@cfyc.asia::5d77544f-5edb-45e2-950a-06f391cc6ccc" providerId="AD" clId="Web-{925EAF5E-81AC-F0B1-0D25-338518C285C2}" dt="2026-09-03T09:15:59.029" v="6" actId="20577"/>
      <pc:docMkLst>
        <pc:docMk/>
      </pc:docMkLst>
      <pc:sldChg chg="modSp">
        <pc:chgData name="Thi Vu" userId="S::thi.vu@cfyc.asia::5d77544f-5edb-45e2-950a-06f391cc6ccc" providerId="AD" clId="Web-{925EAF5E-81AC-F0B1-0D25-338518C285C2}" dt="2026-09-03T09:15:59.029" v="6" actId="20577"/>
        <pc:sldMkLst>
          <pc:docMk/>
          <pc:sldMk cId="0" sldId="259"/>
        </pc:sldMkLst>
        <pc:spChg chg="mod">
          <ac:chgData name="Thi Vu" userId="S::thi.vu@cfyc.asia::5d77544f-5edb-45e2-950a-06f391cc6ccc" providerId="AD" clId="Web-{925EAF5E-81AC-F0B1-0D25-338518C285C2}" dt="2026-09-03T09:15:59.029" v="6" actId="20577"/>
          <ac:spMkLst>
            <pc:docMk/>
            <pc:sldMk cId="0" sldId="259"/>
            <ac:spMk id="5" creationId="{00000000-0000-0000-0000-000000000000}"/>
          </ac:spMkLst>
        </pc:spChg>
      </pc:sldChg>
    </pc:docChg>
  </pc:docChgLst>
  <pc:docChgLst>
    <pc:chgData name="Thi Vu" userId="S::thi.vu@cfyc.asia::5d77544f-5edb-45e2-950a-06f391cc6ccc" providerId="AD" clId="Web-{00000000-0000-0000-0000-000000000000}"/>
    <pc:docChg chg="modSld">
      <pc:chgData name="Thi Vu" userId="S::thi.vu@cfyc.asia::5d77544f-5edb-45e2-950a-06f391cc6ccc" providerId="AD" clId="Web-{00000000-0000-0000-0000-000000000000}" dt="2026-09-03T04:25:08.509" v="39" actId="20577"/>
      <pc:docMkLst>
        <pc:docMk/>
      </pc:docMkLst>
      <pc:sldChg chg="delSp modSp">
        <pc:chgData name="Thi Vu" userId="S::thi.vu@cfyc.asia::5d77544f-5edb-45e2-950a-06f391cc6ccc" providerId="AD" clId="Web-{00000000-0000-0000-0000-000000000000}" dt="2026-09-03T04:09:44.613" v="22" actId="20577"/>
        <pc:sldMkLst>
          <pc:docMk/>
          <pc:sldMk cId="0" sldId="256"/>
        </pc:sldMkLst>
        <pc:spChg chg="mod">
          <ac:chgData name="Thi Vu" userId="S::thi.vu@cfyc.asia::5d77544f-5edb-45e2-950a-06f391cc6ccc" providerId="AD" clId="Web-{00000000-0000-0000-0000-000000000000}" dt="2026-09-03T04:07:42.645" v="13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07:57.598" v="16" actId="14100"/>
          <ac:spMkLst>
            <pc:docMk/>
            <pc:sldMk cId="0" sldId="256"/>
            <ac:spMk id="5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8"/>
          <ac:spMkLst>
            <pc:docMk/>
            <pc:sldMk cId="0" sldId="256"/>
            <ac:spMk id="6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7"/>
          <ac:spMkLst>
            <pc:docMk/>
            <pc:sldMk cId="0" sldId="256"/>
            <ac:spMk id="7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6"/>
          <ac:spMkLst>
            <pc:docMk/>
            <pc:sldMk cId="0" sldId="256"/>
            <ac:spMk id="8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5"/>
          <ac:spMkLst>
            <pc:docMk/>
            <pc:sldMk cId="0" sldId="256"/>
            <ac:spMk id="9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6.224" v="4"/>
          <ac:spMkLst>
            <pc:docMk/>
            <pc:sldMk cId="0" sldId="256"/>
            <ac:spMk id="10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3.864" v="3"/>
          <ac:spMkLst>
            <pc:docMk/>
            <pc:sldMk cId="0" sldId="256"/>
            <ac:spMk id="11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3.864" v="2"/>
          <ac:spMkLst>
            <pc:docMk/>
            <pc:sldMk cId="0" sldId="256"/>
            <ac:spMk id="12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3.864" v="1"/>
          <ac:spMkLst>
            <pc:docMk/>
            <pc:sldMk cId="0" sldId="256"/>
            <ac:spMk id="13" creationId="{00000000-0000-0000-0000-000000000000}"/>
          </ac:spMkLst>
        </pc:spChg>
        <pc:spChg chg="del">
          <ac:chgData name="Thi Vu" userId="S::thi.vu@cfyc.asia::5d77544f-5edb-45e2-950a-06f391cc6ccc" providerId="AD" clId="Web-{00000000-0000-0000-0000-000000000000}" dt="2026-09-03T04:06:03.864" v="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09:31.332" v="20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09:44.613" v="22" actId="20577"/>
          <ac:spMkLst>
            <pc:docMk/>
            <pc:sldMk cId="0" sldId="256"/>
            <ac:spMk id="32" creationId="{00000000-0000-0000-0000-000000000000}"/>
          </ac:spMkLst>
        </pc:spChg>
      </pc:sldChg>
      <pc:sldChg chg="modSp">
        <pc:chgData name="Thi Vu" userId="S::thi.vu@cfyc.asia::5d77544f-5edb-45e2-950a-06f391cc6ccc" providerId="AD" clId="Web-{00000000-0000-0000-0000-000000000000}" dt="2026-09-03T04:08:42.410" v="18" actId="1076"/>
        <pc:sldMkLst>
          <pc:docMk/>
          <pc:sldMk cId="0" sldId="257"/>
        </pc:sldMkLst>
        <pc:spChg chg="mod">
          <ac:chgData name="Thi Vu" userId="S::thi.vu@cfyc.asia::5d77544f-5edb-45e2-950a-06f391cc6ccc" providerId="AD" clId="Web-{00000000-0000-0000-0000-000000000000}" dt="2026-09-03T04:08:37.973" v="17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08:42.410" v="18" actId="1076"/>
          <ac:spMkLst>
            <pc:docMk/>
            <pc:sldMk cId="0" sldId="257"/>
            <ac:spMk id="16" creationId="{00000000-0000-0000-0000-000000000000}"/>
          </ac:spMkLst>
        </pc:spChg>
      </pc:sldChg>
      <pc:sldChg chg="modSp">
        <pc:chgData name="Thi Vu" userId="S::thi.vu@cfyc.asia::5d77544f-5edb-45e2-950a-06f391cc6ccc" providerId="AD" clId="Web-{00000000-0000-0000-0000-000000000000}" dt="2026-09-03T04:23:43.260" v="29" actId="20577"/>
        <pc:sldMkLst>
          <pc:docMk/>
          <pc:sldMk cId="0" sldId="259"/>
        </pc:sldMkLst>
        <pc:spChg chg="mod">
          <ac:chgData name="Thi Vu" userId="S::thi.vu@cfyc.asia::5d77544f-5edb-45e2-950a-06f391cc6ccc" providerId="AD" clId="Web-{00000000-0000-0000-0000-000000000000}" dt="2026-09-03T04:10:38.472" v="23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Thi Vu" userId="S::thi.vu@cfyc.asia::5d77544f-5edb-45e2-950a-06f391cc6ccc" providerId="AD" clId="Web-{00000000-0000-0000-0000-000000000000}" dt="2026-09-03T04:23:43.260" v="29" actId="20577"/>
          <ac:spMkLst>
            <pc:docMk/>
            <pc:sldMk cId="0" sldId="259"/>
            <ac:spMk id="33" creationId="{00000000-0000-0000-0000-000000000000}"/>
          </ac:spMkLst>
        </pc:spChg>
      </pc:sldChg>
      <pc:sldChg chg="modSp">
        <pc:chgData name="Thi Vu" userId="S::thi.vu@cfyc.asia::5d77544f-5edb-45e2-950a-06f391cc6ccc" providerId="AD" clId="Web-{00000000-0000-0000-0000-000000000000}" dt="2026-09-03T04:25:08.509" v="39" actId="20577"/>
        <pc:sldMkLst>
          <pc:docMk/>
          <pc:sldMk cId="0" sldId="260"/>
        </pc:sldMkLst>
        <pc:spChg chg="mod">
          <ac:chgData name="Thi Vu" userId="S::thi.vu@cfyc.asia::5d77544f-5edb-45e2-950a-06f391cc6ccc" providerId="AD" clId="Web-{00000000-0000-0000-0000-000000000000}" dt="2026-09-03T04:25:08.509" v="39" actId="20577"/>
          <ac:spMkLst>
            <pc:docMk/>
            <pc:sldMk cId="0" sldId="260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84048"/>
            <a:ext cx="2148840" cy="384048"/>
          </a:xfrm>
          <a:prstGeom prst="roundRect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2376" y="493776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ptos"/>
              </a:rPr>
              <a:t>DATA ANALYST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688" y="1132840"/>
            <a:ext cx="8656320" cy="18288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5500" b="1" i="0" dirty="0">
                <a:solidFill>
                  <a:srgbClr val="53301D"/>
                </a:solidFill>
                <a:latin typeface="Aptos Display"/>
              </a:rPr>
              <a:t>Campaign</a:t>
            </a:r>
            <a:r>
              <a:rPr lang="en-US" sz="5500" b="1" dirty="0">
                <a:solidFill>
                  <a:srgbClr val="53301D"/>
                </a:solidFill>
                <a:latin typeface="Aptos Display"/>
              </a:rPr>
              <a:t> </a:t>
            </a:r>
            <a:r>
              <a:rPr sz="5500" b="1" i="0" dirty="0">
                <a:solidFill>
                  <a:srgbClr val="53301D"/>
                </a:solidFill>
                <a:latin typeface="Aptos Display"/>
              </a:rPr>
              <a:t>Targeting</a:t>
            </a:r>
            <a:r>
              <a:rPr sz="5500" dirty="0"/>
              <a:t/>
            </a:r>
            <a:br>
              <a:rPr sz="5500" dirty="0"/>
            </a:br>
            <a:r>
              <a:rPr sz="5500" b="1" i="0" dirty="0">
                <a:solidFill>
                  <a:srgbClr val="53301D"/>
                </a:solidFill>
                <a:latin typeface="Aptos Display"/>
              </a:rPr>
              <a:t>Intelligence</a:t>
            </a:r>
            <a:endParaRPr lang="en-US" sz="55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7296" y="3246120"/>
            <a:ext cx="834644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400" b="0" i="1" dirty="0">
                <a:solidFill>
                  <a:srgbClr val="BB5B3D"/>
                </a:solidFill>
                <a:latin typeface="Aptos"/>
              </a:rPr>
              <a:t>Who should be contacted when campaign capacity is limited?</a:t>
            </a:r>
            <a:endParaRPr lang="en-US" sz="2400" b="0" i="1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0561320" y="658368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07624" y="658368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53928" y="658368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00232" y="658368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561320" y="804672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07624" y="804672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853928" y="804672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00232" y="804672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561320" y="950976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707624" y="950976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853928" y="950976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000232" y="950976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561320" y="1097280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07624" y="1097280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853928" y="1097280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000232" y="1097280"/>
            <a:ext cx="41148" cy="41148"/>
          </a:xfrm>
          <a:prstGeom prst="ellipse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" y="5806440"/>
            <a:ext cx="18288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1" i="0" dirty="0" err="1">
                <a:solidFill>
                  <a:srgbClr val="53301D"/>
                </a:solidFill>
                <a:latin typeface="Aptos"/>
              </a:rPr>
              <a:t>Thi</a:t>
            </a:r>
            <a:r>
              <a:rPr sz="1200" b="1" i="0" dirty="0">
                <a:solidFill>
                  <a:srgbClr val="53301D"/>
                </a:solidFill>
                <a:latin typeface="Aptos"/>
              </a:rPr>
              <a:t> Vu</a:t>
            </a:r>
            <a:endParaRPr lang="en-US" sz="1200" b="1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" y="6062472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 dirty="0">
                <a:solidFill>
                  <a:srgbClr val="846D5B"/>
                </a:solidFill>
                <a:latin typeface="Aptos"/>
              </a:rPr>
              <a:t>Data Analyst</a:t>
            </a:r>
            <a:endParaRPr lang="en-US"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Problem &amp;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A simple decision question with a clear operating constraint.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2120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993392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437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The team cannot contact everyone.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Calls take time and cost money.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A useful model should help decide who to contact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34924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1993392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0756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1437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OUR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Rank customers before the call.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Use contact capacity such as Top 5%, 10%, 20% or 30%.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3301D"/>
                </a:solidFill>
                <a:latin typeface="Aptos"/>
              </a:rPr>
              <a:t>• Measure how many real subscribers are captured.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5257800"/>
            <a:ext cx="8366760" cy="621792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40280" y="5468112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3301D"/>
                </a:solidFill>
                <a:latin typeface="Aptos"/>
              </a:rPr>
              <a:t>Success measure: capture more actual subscribers with a smaller contact list.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DATA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Data Source &amp;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33756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50292" cy="1024128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3063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UCI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3063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46D5B"/>
                </a:solidFill>
                <a:latin typeface="Aptos"/>
              </a:rPr>
              <a:t>Bank Marketing • CC BY 4.0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33756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50292" cy="1024128"/>
          </a:xfrm>
          <a:prstGeom prst="rect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810512"/>
            <a:ext cx="3063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3911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41,188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41448"/>
            <a:ext cx="3063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46D5B"/>
                </a:solidFill>
                <a:latin typeface="Aptos"/>
              </a:rPr>
              <a:t>bank-additional-full.csv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691640"/>
            <a:ext cx="324612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1691640"/>
            <a:ext cx="50292" cy="1024128"/>
          </a:xfrm>
          <a:prstGeom prst="rect">
            <a:avLst/>
          </a:prstGeom>
          <a:solidFill>
            <a:srgbClr val="BB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1810512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20 inputs +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441448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46D5B"/>
                </a:solidFill>
                <a:latin typeface="Aptos"/>
              </a:rPr>
              <a:t>May 2008 – Nov 2010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46120"/>
            <a:ext cx="10927080" cy="15087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5478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5B3D"/>
                </a:solidFill>
                <a:latin typeface="Aptos"/>
              </a:rPr>
              <a:t>Attribution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136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3301D"/>
                </a:solidFill>
                <a:latin typeface="Aptos"/>
              </a:rPr>
              <a:t>Moro, S., Rita, P., &amp; Cortez, P. (2014). Bank Marketing [Dataset]. UCI Machine Learning Repository. DOI: 10.24432/C5K306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Target &amp; Key Feature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 dirty="0">
                <a:solidFill>
                  <a:srgbClr val="846D5B"/>
                </a:solidFill>
                <a:latin typeface="Aptos"/>
              </a:rPr>
              <a:t>An overview of the target and key features used in the analysis.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2788920" cy="416052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2123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53301D"/>
                </a:solidFill>
                <a:latin typeface="Aptos"/>
              </a:rPr>
              <a:t>Term deposit</a:t>
            </a:r>
            <a:r>
              <a:t/>
            </a:r>
            <a:br/>
            <a:r>
              <a:rPr sz="1900" b="1" i="0">
                <a:solidFill>
                  <a:srgbClr val="53301D"/>
                </a:solidFill>
                <a:latin typeface="Aptos"/>
              </a:rPr>
              <a:t>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3301D"/>
                </a:solidFill>
                <a:latin typeface="Aptos"/>
              </a:rPr>
              <a:t>Yes = 4,640</a:t>
            </a:r>
            <a:r>
              <a:t/>
            </a:r>
            <a:br/>
            <a:r>
              <a:rPr sz="1300" b="0" i="0">
                <a:solidFill>
                  <a:srgbClr val="53301D"/>
                </a:solidFill>
                <a:latin typeface="Aptos"/>
              </a:rPr>
              <a:t>No = 36,548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709160"/>
            <a:ext cx="2057400" cy="50292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882896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5B3D"/>
                </a:solidFill>
                <a:latin typeface="Aptos"/>
              </a:rPr>
              <a:t>Positive rate: 11.27%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8105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KEY FEATURE GROUPS</a:t>
            </a:r>
          </a:p>
        </p:txBody>
      </p:sp>
      <p:sp>
        <p:nvSpPr>
          <p:cNvPr id="17" name="Oval 16"/>
          <p:cNvSpPr/>
          <p:nvPr/>
        </p:nvSpPr>
        <p:spPr>
          <a:xfrm>
            <a:off x="3767328" y="224028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67328" y="23225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677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301D"/>
                </a:solidFill>
                <a:latin typeface="Aptos"/>
              </a:rPr>
              <a:t>Client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age, job, marital, education, default, housing, loan</a:t>
            </a:r>
          </a:p>
        </p:txBody>
      </p:sp>
      <p:sp>
        <p:nvSpPr>
          <p:cNvPr id="21" name="Oval 20"/>
          <p:cNvSpPr/>
          <p:nvPr/>
        </p:nvSpPr>
        <p:spPr>
          <a:xfrm>
            <a:off x="3767328" y="3026664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67328" y="31089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5B3D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0540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301D"/>
                </a:solidFill>
                <a:latin typeface="Aptos"/>
              </a:rPr>
              <a:t>Contact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054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contact type, month, day of week</a:t>
            </a:r>
          </a:p>
        </p:txBody>
      </p:sp>
      <p:sp>
        <p:nvSpPr>
          <p:cNvPr id="25" name="Oval 24"/>
          <p:cNvSpPr/>
          <p:nvPr/>
        </p:nvSpPr>
        <p:spPr>
          <a:xfrm>
            <a:off x="3767328" y="3813048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67328" y="38953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840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301D"/>
                </a:solidFill>
                <a:latin typeface="Aptos"/>
              </a:rPr>
              <a:t>Campaign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840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campaign, pdays, previous, poutcome</a:t>
            </a:r>
          </a:p>
        </p:txBody>
      </p:sp>
      <p:sp>
        <p:nvSpPr>
          <p:cNvPr id="29" name="Oval 28"/>
          <p:cNvSpPr/>
          <p:nvPr/>
        </p:nvSpPr>
        <p:spPr>
          <a:xfrm>
            <a:off x="3767328" y="4599432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67328" y="46817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62686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301D"/>
                </a:solidFill>
                <a:latin typeface="Aptos"/>
              </a:rPr>
              <a:t>Macro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6268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employment and interest-rate indicators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486400"/>
            <a:ext cx="73152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b="1" dirty="0">
                <a:solidFill>
                  <a:srgbClr val="BB5B3D"/>
                </a:solidFill>
                <a:latin typeface="Aptos"/>
              </a:rPr>
              <a:t>"Duration" </a:t>
            </a:r>
            <a:r>
              <a:rPr sz="900" b="1" i="0" dirty="0">
                <a:solidFill>
                  <a:srgbClr val="BB5B3D"/>
                </a:solidFill>
                <a:latin typeface="Aptos"/>
              </a:rPr>
              <a:t>is excluded from pre-call targeting because it is known only after the call.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DATA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Data Preparation &amp;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Key preparation steps before model development</a:t>
            </a:r>
            <a:r>
              <a:rPr sz="1000" b="0" i="0" dirty="0">
                <a:solidFill>
                  <a:srgbClr val="846D5B"/>
                </a:solidFill>
                <a:latin typeface="Aptos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4754880" cy="14645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Checked data types and source categories.</a:t>
            </a:r>
          </a:p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Kept </a:t>
            </a:r>
            <a:r>
              <a:rPr lang="en-US" sz="1250" dirty="0">
                <a:solidFill>
                  <a:srgbClr val="53301D"/>
                </a:solidFill>
                <a:latin typeface="Aptos"/>
              </a:rPr>
              <a:t>"</a:t>
            </a:r>
            <a:r>
              <a:rPr sz="1250" dirty="0">
                <a:solidFill>
                  <a:srgbClr val="53301D"/>
                </a:solidFill>
                <a:latin typeface="Aptos"/>
              </a:rPr>
              <a:t>unknown</a:t>
            </a:r>
            <a:r>
              <a:rPr lang="en-US" sz="1250" dirty="0">
                <a:solidFill>
                  <a:srgbClr val="53301D"/>
                </a:solidFill>
                <a:latin typeface="Aptos"/>
              </a:rPr>
              <a:t>"</a:t>
            </a:r>
            <a:r>
              <a:rPr sz="1250" dirty="0">
                <a:solidFill>
                  <a:srgbClr val="53301D"/>
                </a:solidFill>
                <a:latin typeface="Aptos"/>
              </a:rPr>
              <a:t> as an explicit source category.</a:t>
            </a:r>
          </a:p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One-hot encoded categorical fields.</a:t>
            </a:r>
          </a:p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Scaled numeric fields for Logistic Regression.</a:t>
            </a:r>
          </a:p>
          <a:p>
            <a:pPr>
              <a:spcAft>
                <a:spcPts val="800"/>
              </a:spcAft>
            </a:pPr>
            <a:r>
              <a:rPr sz="1250" dirty="0">
                <a:solidFill>
                  <a:srgbClr val="53301D"/>
                </a:solidFill>
                <a:latin typeface="Aptos"/>
              </a:rPr>
              <a:t>• Removed </a:t>
            </a:r>
            <a:r>
              <a:rPr lang="en-US" sz="1250" dirty="0">
                <a:solidFill>
                  <a:srgbClr val="53301D"/>
                </a:solidFill>
                <a:latin typeface="Aptos"/>
              </a:rPr>
              <a:t>"</a:t>
            </a:r>
            <a:r>
              <a:rPr sz="1250" dirty="0">
                <a:solidFill>
                  <a:srgbClr val="53301D"/>
                </a:solidFill>
                <a:latin typeface="Aptos"/>
              </a:rPr>
              <a:t>duration</a:t>
            </a:r>
            <a:r>
              <a:rPr lang="en-US" sz="1250" dirty="0">
                <a:solidFill>
                  <a:srgbClr val="53301D"/>
                </a:solidFill>
                <a:latin typeface="Aptos"/>
              </a:rPr>
              <a:t>"</a:t>
            </a:r>
            <a:r>
              <a:rPr sz="1250" dirty="0">
                <a:solidFill>
                  <a:srgbClr val="53301D"/>
                </a:solidFill>
                <a:latin typeface="Aptos"/>
              </a:rPr>
              <a:t> from deployable predictors.</a:t>
            </a:r>
          </a:p>
        </p:txBody>
      </p:sp>
      <p:pic>
        <p:nvPicPr>
          <p:cNvPr id="9" name="Picture 8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91640"/>
            <a:ext cx="5394960" cy="3383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5166360"/>
            <a:ext cx="3931920" cy="50292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534009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3301D"/>
                </a:solidFill>
                <a:latin typeface="Aptos"/>
              </a:rPr>
              <a:t>Imbalanced target: the positive class is the minority.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Train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 &amp;</a:t>
            </a:r>
            <a:r>
              <a:rPr sz="2400" b="1" i="0" dirty="0">
                <a:solidFill>
                  <a:srgbClr val="53301D"/>
                </a:solidFill>
                <a:latin typeface="Aptos Display"/>
              </a:rPr>
              <a:t> Test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A time-based split to reflect how the model would be used in practice.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pic>
        <p:nvPicPr>
          <p:cNvPr id="8" name="Picture 7" descr="02_temporal_rat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5303520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737360"/>
            <a:ext cx="530352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2377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BB5B3D"/>
                </a:solidFill>
                <a:latin typeface="Aptos"/>
              </a:rPr>
              <a:t>WHY SPLIT</a:t>
            </a:r>
            <a:r>
              <a:rPr lang="en-US" sz="900" b="1" i="0" dirty="0">
                <a:solidFill>
                  <a:srgbClr val="BB5B3D"/>
                </a:solidFill>
                <a:latin typeface="Aptos"/>
              </a:rPr>
              <a:t> BY TIME</a:t>
            </a:r>
            <a:r>
              <a:rPr sz="900" b="1" i="0" dirty="0">
                <a:solidFill>
                  <a:srgbClr val="BB5B3D"/>
                </a:solidFill>
                <a:latin typeface="Aptos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6002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200" dirty="0">
                <a:solidFill>
                  <a:srgbClr val="53301D"/>
                </a:solidFill>
                <a:latin typeface="Aptos"/>
              </a:rPr>
              <a:t>The dataset </a:t>
            </a:r>
            <a:r>
              <a:rPr sz="1200" dirty="0">
                <a:solidFill>
                  <a:srgbClr val="53301D"/>
                </a:solidFill>
                <a:latin typeface="Aptos"/>
              </a:rPr>
              <a:t>is ordered by date</a:t>
            </a:r>
            <a:r>
              <a:rPr lang="en-US" sz="1200" dirty="0">
                <a:solidFill>
                  <a:srgbClr val="53301D"/>
                </a:solidFill>
                <a:latin typeface="Aptos"/>
              </a:rPr>
              <a:t>, so a random split could mix earlier and later customer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5257800"/>
            <a:ext cx="297180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65960" y="5257800"/>
            <a:ext cx="50292" cy="1024128"/>
          </a:xfrm>
          <a:prstGeom prst="rect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8840" y="5376672"/>
            <a:ext cx="2697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560527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32,950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6007608"/>
            <a:ext cx="2697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dirty="0">
                <a:solidFill>
                  <a:srgbClr val="846D5B"/>
                </a:solidFill>
                <a:latin typeface="Aptos"/>
              </a:rPr>
              <a:t>Subscription</a:t>
            </a:r>
            <a:r>
              <a:rPr sz="800" b="0" i="0" dirty="0">
                <a:solidFill>
                  <a:srgbClr val="846D5B"/>
                </a:solidFill>
                <a:latin typeface="Aptos"/>
              </a:rPr>
              <a:t> </a:t>
            </a:r>
            <a:r>
              <a:rPr lang="en-US" sz="800" dirty="0">
                <a:solidFill>
                  <a:srgbClr val="846D5B"/>
                </a:solidFill>
                <a:latin typeface="Aptos"/>
              </a:rPr>
              <a:t>R</a:t>
            </a:r>
            <a:r>
              <a:rPr sz="800" b="0" i="0" dirty="0">
                <a:solidFill>
                  <a:srgbClr val="846D5B"/>
                </a:solidFill>
                <a:latin typeface="Aptos"/>
              </a:rPr>
              <a:t>ate 6.4%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257800"/>
            <a:ext cx="297180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5257800"/>
            <a:ext cx="50292" cy="1024128"/>
          </a:xfrm>
          <a:prstGeom prst="rect">
            <a:avLst/>
          </a:prstGeom>
          <a:solidFill>
            <a:srgbClr val="BB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5376672"/>
            <a:ext cx="2697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46D5B"/>
                </a:solidFill>
                <a:latin typeface="Aptos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60527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53301D"/>
                </a:solidFill>
                <a:latin typeface="Aptos"/>
              </a:rPr>
              <a:t>8,238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6007608"/>
            <a:ext cx="2697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846D5B"/>
                </a:solidFill>
                <a:latin typeface="Aptos"/>
              </a:rPr>
              <a:t>Subscription Rate </a:t>
            </a:r>
            <a:r>
              <a:rPr sz="800" b="0" i="0" dirty="0">
                <a:solidFill>
                  <a:srgbClr val="846D5B"/>
                </a:solidFill>
                <a:latin typeface="Aptos"/>
              </a:rPr>
              <a:t>30.8%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458123-F737-AA46-2103-CFBE8D9DF3D2}"/>
              </a:ext>
            </a:extLst>
          </p:cNvPr>
          <p:cNvSpPr txBox="1"/>
          <p:nvPr/>
        </p:nvSpPr>
        <p:spPr>
          <a:xfrm>
            <a:off x="6537960" y="3394657"/>
            <a:ext cx="2377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INSIGHT</a:t>
            </a:r>
            <a:r>
              <a:rPr sz="900" b="1" i="0" dirty="0">
                <a:solidFill>
                  <a:srgbClr val="BB5B3D"/>
                </a:solidFill>
                <a:latin typeface="Aptos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F6E5E5-9FFF-05FD-F763-35B35054A7BA}"/>
              </a:ext>
            </a:extLst>
          </p:cNvPr>
          <p:cNvSpPr txBox="1"/>
          <p:nvPr/>
        </p:nvSpPr>
        <p:spPr>
          <a:xfrm>
            <a:off x="6537960" y="3851857"/>
            <a:ext cx="46002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dirty="0">
                <a:solidFill>
                  <a:srgbClr val="53301D"/>
                </a:solidFill>
                <a:latin typeface="Aptos"/>
              </a:rPr>
              <a:t>• Subscription rate increased from 6.4% to 30.8%, showing a clear shift between the earlier and later periods.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DATA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Why 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“D</a:t>
            </a:r>
            <a:r>
              <a:rPr sz="2400" b="1" i="0" dirty="0">
                <a:solidFill>
                  <a:srgbClr val="53301D"/>
                </a:solidFill>
                <a:latin typeface="Aptos Display"/>
              </a:rPr>
              <a:t>uration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“ </a:t>
            </a:r>
            <a:r>
              <a:rPr sz="2400" b="1" i="0" dirty="0">
                <a:solidFill>
                  <a:srgbClr val="53301D"/>
                </a:solidFill>
                <a:latin typeface="Aptos Display"/>
              </a:rPr>
              <a:t>Is 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Excluded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Call duration is only known after a call starts, so it cannot help decide who to contact first.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pic>
        <p:nvPicPr>
          <p:cNvPr id="8" name="Picture 7" descr="04_duration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48640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783080"/>
            <a:ext cx="4800600" cy="352044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2057400"/>
            <a:ext cx="2103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WHY IT MATTERS?</a:t>
            </a:r>
            <a:endParaRPr sz="900" b="1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12280" y="2569080"/>
            <a:ext cx="404378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53301D"/>
                </a:solidFill>
                <a:latin typeface="Aptos"/>
              </a:rPr>
              <a:t>Including call duration improves the model score, but this information is not available when the contact list is created.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100B9C-513F-FE11-CEB8-DB712CDA6903}"/>
              </a:ext>
            </a:extLst>
          </p:cNvPr>
          <p:cNvSpPr txBox="1"/>
          <p:nvPr/>
        </p:nvSpPr>
        <p:spPr>
          <a:xfrm>
            <a:off x="6812280" y="3842645"/>
            <a:ext cx="2103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DECISION?</a:t>
            </a:r>
            <a:endParaRPr sz="900" b="1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77814C-0CC4-44D5-6B69-C520E8D0BCF8}"/>
              </a:ext>
            </a:extLst>
          </p:cNvPr>
          <p:cNvSpPr txBox="1"/>
          <p:nvPr/>
        </p:nvSpPr>
        <p:spPr>
          <a:xfrm>
            <a:off x="6812280" y="4354325"/>
            <a:ext cx="404378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53301D"/>
                </a:solidFill>
                <a:latin typeface="Aptos"/>
              </a:rPr>
              <a:t>The final targeting model excludes “Duration” and uses only information available before contact.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Model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Several models were tested to find the best way to rank customers for targeting.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1069848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Logistic Regression</a:t>
            </a:r>
          </a:p>
        </p:txBody>
      </p:sp>
      <p:sp>
        <p:nvSpPr>
          <p:cNvPr id="13" name="Oval 12"/>
          <p:cNvSpPr/>
          <p:nvPr/>
        </p:nvSpPr>
        <p:spPr>
          <a:xfrm>
            <a:off x="2971800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5B3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Imbalance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Class weighting</a:t>
            </a:r>
          </a:p>
        </p:txBody>
      </p:sp>
      <p:sp>
        <p:nvSpPr>
          <p:cNvPr id="18" name="Oval 17"/>
          <p:cNvSpPr/>
          <p:nvPr/>
        </p:nvSpPr>
        <p:spPr>
          <a:xfrm>
            <a:off x="4873752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3752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4144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LR • RF • XGBoost</a:t>
            </a:r>
          </a:p>
        </p:txBody>
      </p:sp>
      <p:sp>
        <p:nvSpPr>
          <p:cNvPr id="23" name="Oval 22"/>
          <p:cNvSpPr/>
          <p:nvPr/>
        </p:nvSpPr>
        <p:spPr>
          <a:xfrm>
            <a:off x="6775704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75704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6847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Temporal test</a:t>
            </a:r>
          </a:p>
        </p:txBody>
      </p:sp>
      <p:sp>
        <p:nvSpPr>
          <p:cNvPr id="28" name="Oval 27"/>
          <p:cNvSpPr/>
          <p:nvPr/>
        </p:nvSpPr>
        <p:spPr>
          <a:xfrm>
            <a:off x="8677656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77656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08483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46D5B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Rank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Predicted probability</a:t>
            </a:r>
          </a:p>
        </p:txBody>
      </p:sp>
      <p:sp>
        <p:nvSpPr>
          <p:cNvPr id="33" name="Oval 32"/>
          <p:cNvSpPr/>
          <p:nvPr/>
        </p:nvSpPr>
        <p:spPr>
          <a:xfrm>
            <a:off x="10579608" y="196596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79608" y="204825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482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3848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3301D"/>
                </a:solidFill>
                <a:latin typeface="Aptos"/>
              </a:rPr>
              <a:t>Activate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31272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46D5B"/>
                </a:solidFill>
                <a:latin typeface="Aptos"/>
              </a:rPr>
              <a:t>Top-K capacity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Model Compariso</a:t>
            </a:r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n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846D5B"/>
                </a:solidFill>
                <a:latin typeface="Aptos"/>
              </a:rPr>
              <a:t>The models were compared on the later test period using the same set of </a:t>
            </a:r>
            <a:r>
              <a:rPr lang="en-US" sz="1000" dirty="0" smtClean="0">
                <a:solidFill>
                  <a:srgbClr val="846D5B"/>
                </a:solidFill>
                <a:latin typeface="Aptos"/>
              </a:rPr>
              <a:t>features.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737360"/>
            <a:ext cx="4160520" cy="36118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2011680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WHAT I FOUND</a:t>
            </a:r>
            <a:endParaRPr sz="900" b="1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F5F0DA-F38A-9C7C-F449-74BCE2C7B5B8}"/>
              </a:ext>
            </a:extLst>
          </p:cNvPr>
          <p:cNvSpPr txBox="1"/>
          <p:nvPr/>
        </p:nvSpPr>
        <p:spPr>
          <a:xfrm>
            <a:off x="7680960" y="2383348"/>
            <a:ext cx="344748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150" dirty="0">
                <a:solidFill>
                  <a:srgbClr val="53301D"/>
                </a:solidFill>
                <a:latin typeface="Aptos"/>
              </a:rPr>
              <a:t>Baseline Logistic Regression achieved the highest PR-AUC at 0.527. Class weighting and more complex models did not improve PR-AUC on the later test period.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ACB0F-7E01-8CAB-1730-049F721457A4}"/>
              </a:ext>
            </a:extLst>
          </p:cNvPr>
          <p:cNvSpPr txBox="1"/>
          <p:nvPr/>
        </p:nvSpPr>
        <p:spPr>
          <a:xfrm>
            <a:off x="7680960" y="3851405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BB5B3D"/>
                </a:solidFill>
                <a:latin typeface="Aptos"/>
              </a:rPr>
              <a:t>MODEL CHOICE</a:t>
            </a:r>
            <a:endParaRPr sz="900" b="1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A71FF6-2699-FBB9-017F-06822AF21A0B}"/>
              </a:ext>
            </a:extLst>
          </p:cNvPr>
          <p:cNvSpPr txBox="1"/>
          <p:nvPr/>
        </p:nvSpPr>
        <p:spPr>
          <a:xfrm>
            <a:off x="7680960" y="4223073"/>
            <a:ext cx="344748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150" dirty="0" smtClean="0">
                <a:solidFill>
                  <a:srgbClr val="53301D"/>
                </a:solidFill>
                <a:latin typeface="Aptos"/>
              </a:rPr>
              <a:t>Logistic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Regression was selected as the final ranking model.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1737361"/>
            <a:ext cx="6281862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BUSINESS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Who Should We Contact First?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Customers are ranked by predicted probability, then selected based on available contact capacity.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pic>
        <p:nvPicPr>
          <p:cNvPr id="8" name="Picture 7" descr="05_capacity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68"/>
            <a:ext cx="5669280" cy="3886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1691640"/>
            <a:ext cx="4800600" cy="4599432"/>
          </a:xfrm>
          <a:prstGeom prst="round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59168" y="2011680"/>
            <a:ext cx="38404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>
                <a:solidFill>
                  <a:srgbClr val="E07436"/>
                </a:solidFill>
                <a:latin typeface="Aptos"/>
              </a:rPr>
              <a:t>CONTACT CAPACITY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2377440"/>
            <a:ext cx="9144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846D5B"/>
                </a:solidFill>
                <a:latin typeface="Aptos"/>
              </a:rPr>
              <a:t>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377440"/>
            <a:ext cx="9144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846D5B"/>
                </a:solidFill>
                <a:latin typeface="Aptos"/>
              </a:rPr>
              <a:t>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2377440"/>
            <a:ext cx="10515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846D5B"/>
                </a:solidFill>
                <a:latin typeface="Aptos"/>
              </a:rPr>
              <a:t>Captured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8" y="2377440"/>
            <a:ext cx="7772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846D5B"/>
                </a:solidFill>
                <a:latin typeface="Aptos"/>
              </a:rPr>
              <a:t>Cum. lift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2697480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53301D"/>
                </a:solidFill>
                <a:latin typeface="Aptos"/>
              </a:rPr>
              <a:t>Top 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697480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>
                <a:solidFill>
                  <a:srgbClr val="70482F"/>
                </a:solidFill>
                <a:latin typeface="Aptos"/>
              </a:rPr>
              <a:t>411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2697480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BB5B3D"/>
                </a:solidFill>
                <a:latin typeface="Aptos"/>
              </a:rPr>
              <a:t>8.9%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9568" y="2697480"/>
            <a:ext cx="777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53301D"/>
                </a:solidFill>
                <a:latin typeface="Aptos"/>
              </a:rPr>
              <a:t>1.79×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3319272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53301D"/>
                </a:solidFill>
                <a:latin typeface="Aptos"/>
              </a:rPr>
              <a:t>Top 10%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319272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>
                <a:solidFill>
                  <a:srgbClr val="70482F"/>
                </a:solidFill>
                <a:latin typeface="Aptos"/>
              </a:rPr>
              <a:t>823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4272" y="3319272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BB5B3D"/>
                </a:solidFill>
                <a:latin typeface="Aptos"/>
              </a:rPr>
              <a:t>18.5%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59568" y="3319272"/>
            <a:ext cx="777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53301D"/>
                </a:solidFill>
                <a:latin typeface="Aptos"/>
              </a:rPr>
              <a:t>1.85×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31152" y="3849624"/>
            <a:ext cx="4160520" cy="475488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59168" y="3941064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53301D"/>
                </a:solidFill>
                <a:latin typeface="Aptos"/>
              </a:rPr>
              <a:t>Top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941064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>
                <a:solidFill>
                  <a:srgbClr val="70482F"/>
                </a:solidFill>
                <a:latin typeface="Aptos"/>
              </a:rPr>
              <a:t>1,647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3941064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BB5B3D"/>
                </a:solidFill>
                <a:latin typeface="Aptos"/>
              </a:rPr>
              <a:t>38.5%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9568" y="3941064"/>
            <a:ext cx="777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53301D"/>
                </a:solidFill>
                <a:latin typeface="Aptos"/>
              </a:rPr>
              <a:t>1.93×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9168" y="4562856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53301D"/>
                </a:solidFill>
                <a:latin typeface="Aptos"/>
              </a:rPr>
              <a:t>Top 30%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562856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>
                <a:solidFill>
                  <a:srgbClr val="70482F"/>
                </a:solidFill>
                <a:latin typeface="Aptos"/>
              </a:rPr>
              <a:t>2,471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4562856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BB5B3D"/>
                </a:solidFill>
                <a:latin typeface="Aptos"/>
              </a:rPr>
              <a:t>53.6%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9568" y="4562856"/>
            <a:ext cx="777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1">
                <a:solidFill>
                  <a:srgbClr val="53301D"/>
                </a:solidFill>
                <a:latin typeface="Aptos"/>
              </a:rPr>
              <a:t>1.79×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31152" y="5285232"/>
            <a:ext cx="4160520" cy="566928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32320" y="5404104"/>
            <a:ext cx="3749039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19" b="1">
                <a:solidFill>
                  <a:srgbClr val="53301D"/>
                </a:solidFill>
                <a:latin typeface="Aptos"/>
              </a:rPr>
              <a:t>At 20% capacity, 1,647 ranked customers capture 38.5% of subscribers.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60" y="5925312"/>
            <a:ext cx="4023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0" dirty="0">
                <a:solidFill>
                  <a:srgbClr val="846D5B"/>
                </a:solidFill>
                <a:latin typeface="Aptos"/>
              </a:rPr>
              <a:t>Each row is cumulative from the top of the ranked list.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D5C32F-1A68-868A-835D-B734768F9EE1}"/>
              </a:ext>
            </a:extLst>
          </p:cNvPr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8F2EE-7C3D-F9F6-08EC-58CF468C27CF}"/>
              </a:ext>
            </a:extLst>
          </p:cNvPr>
          <p:cNvSpPr txBox="1"/>
          <p:nvPr/>
        </p:nvSpPr>
        <p:spPr>
          <a:xfrm>
            <a:off x="11475720" y="6318504"/>
            <a:ext cx="329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>
                <a:solidFill>
                  <a:srgbClr val="FFFFFF"/>
                </a:solidFill>
                <a:latin typeface="Aptos"/>
              </a:rPr>
              <a:t>10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What Influences the Model Score?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A closer look at the features associated with </a:t>
            </a:r>
            <a:r>
              <a:rPr lang="en-US" sz="1000" dirty="0">
                <a:solidFill>
                  <a:srgbClr val="846D5B"/>
                </a:solidFill>
                <a:latin typeface="Aptos"/>
              </a:rPr>
              <a:t>higher or lower predicted subscription probability.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F324B7-9D1E-C8C6-538D-AD80E11AC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73936"/>
            <a:ext cx="6446454" cy="39639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178040" y="1783080"/>
            <a:ext cx="4160520" cy="4251960"/>
          </a:xfrm>
          <a:prstGeom prst="round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7808" y="2148840"/>
            <a:ext cx="3291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>
                <a:solidFill>
                  <a:srgbClr val="E07436"/>
                </a:solidFill>
                <a:latin typeface="Aptos"/>
              </a:rPr>
              <a:t>HOW TO READ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670048"/>
            <a:ext cx="324612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53301D"/>
                </a:solidFill>
                <a:latin typeface="Aptos"/>
              </a:rPr>
              <a:t>Positive coefficients are associated with a higher predicted subscription probability.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429000"/>
            <a:ext cx="324612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53301D"/>
                </a:solidFill>
                <a:latin typeface="Aptos"/>
              </a:rPr>
              <a:t>Negative coefficients are associated with a lower predicted subscription probability.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4370832"/>
            <a:ext cx="324612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>
                <a:solidFill>
                  <a:srgbClr val="70482F"/>
                </a:solidFill>
                <a:latin typeface="Aptos"/>
              </a:rPr>
              <a:t>These coefficients explain the model score, not cause and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5047488"/>
            <a:ext cx="3520440" cy="621792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5166360"/>
            <a:ext cx="3127248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69" b="0">
                <a:solidFill>
                  <a:srgbClr val="846D5B"/>
                </a:solidFill>
                <a:latin typeface="Aptos"/>
              </a:rPr>
              <a:t>Some macroeconomic features are highly correlated, so individual coefficients need cautious interpretation.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How the Campaign Could Use the Model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Turn customer scores into a practical contact list for the campaign team.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691640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19" y="1892808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19751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1" y="19476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Eligibility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1" y="2377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6D5B"/>
                </a:solidFill>
                <a:latin typeface="Aptos"/>
              </a:rPr>
              <a:t>Apply business and compliance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691640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92808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9751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5B3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19476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37744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Calculate a probability for each customer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19872" y="1691640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40" y="1892808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97510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9476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37744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Rank customers from highest to lowest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0352" y="3749039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19" y="3950207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19" y="40325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6847A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1" y="40050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Select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1" y="443484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46D5B"/>
                </a:solidFill>
                <a:latin typeface="Aptos"/>
              </a:rPr>
              <a:t>Choose </a:t>
            </a:r>
            <a:r>
              <a:rPr lang="en-US" sz="1000" dirty="0">
                <a:solidFill>
                  <a:srgbClr val="846D5B"/>
                </a:solidFill>
                <a:latin typeface="Aptos"/>
              </a:rPr>
              <a:t>the top group based on</a:t>
            </a:r>
            <a:r>
              <a:rPr sz="1000" b="0" i="0" dirty="0">
                <a:solidFill>
                  <a:srgbClr val="846D5B"/>
                </a:solidFill>
                <a:latin typeface="Aptos"/>
              </a:rPr>
              <a:t> capacity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3749039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3950207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325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40050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792" y="443484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46D5B"/>
                </a:solidFill>
                <a:latin typeface="Aptos"/>
              </a:rPr>
              <a:t>Keep a random holdout</a:t>
            </a:r>
            <a:r>
              <a:rPr lang="en-US" sz="1000" b="0" i="0" dirty="0">
                <a:solidFill>
                  <a:srgbClr val="846D5B"/>
                </a:solidFill>
                <a:latin typeface="Aptos"/>
              </a:rPr>
              <a:t> group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119872" y="3749039"/>
            <a:ext cx="3337560" cy="155448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21040" y="3950207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403250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482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40050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301D"/>
                </a:solidFill>
                <a:latin typeface="Aptos"/>
              </a:rPr>
              <a:t>Measure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443484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Compare actual campaign results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53301D"/>
                </a:solidFill>
                <a:latin typeface="Aptos Display"/>
              </a:rPr>
              <a:t>What the Model Can and Cannot Tell Us</a:t>
            </a:r>
            <a:endParaRPr sz="2400" b="1" i="0" dirty="0">
              <a:solidFill>
                <a:srgbClr val="53301D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 A high score means a customer is more likely to subscribe. It does not prove that the campaign caused the subscription.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074920" cy="2866644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210312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8541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TARGET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4206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0" dirty="0">
                <a:solidFill>
                  <a:srgbClr val="53301D"/>
                </a:solidFill>
                <a:latin typeface="Aptos"/>
              </a:rPr>
              <a:t>High-</a:t>
            </a:r>
            <a:r>
              <a:rPr sz="2100" b="1" i="0" dirty="0">
                <a:solidFill>
                  <a:srgbClr val="53301D"/>
                </a:solidFill>
                <a:latin typeface="Aptos"/>
              </a:rPr>
              <a:t>ranked customers</a:t>
            </a:r>
            <a:r>
              <a:rPr dirty="0"/>
              <a:t/>
            </a:r>
            <a:br>
              <a:rPr dirty="0"/>
            </a:br>
            <a:r>
              <a:rPr sz="2100" b="1" i="0" dirty="0">
                <a:solidFill>
                  <a:srgbClr val="53301D"/>
                </a:solidFill>
                <a:latin typeface="Aptos"/>
              </a:rPr>
              <a:t>receive the campaign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5074920" cy="2866644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20840" y="210312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185415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CONTROL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788920"/>
            <a:ext cx="4206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dirty="0">
                <a:solidFill>
                  <a:srgbClr val="53301D"/>
                </a:solidFill>
                <a:latin typeface="Aptos"/>
              </a:rPr>
              <a:t>A r</a:t>
            </a:r>
            <a:r>
              <a:rPr sz="2100" b="1" i="0" dirty="0">
                <a:solidFill>
                  <a:srgbClr val="53301D"/>
                </a:solidFill>
                <a:latin typeface="Aptos"/>
              </a:rPr>
              <a:t>andom holdout</a:t>
            </a:r>
            <a:r>
              <a:rPr lang="en-US" sz="2100" b="1" i="0" dirty="0">
                <a:solidFill>
                  <a:srgbClr val="53301D"/>
                </a:solidFill>
                <a:latin typeface="Aptos"/>
              </a:rPr>
              <a:t> group</a:t>
            </a:r>
            <a:r>
              <a:rPr dirty="0"/>
              <a:t/>
            </a:r>
            <a:br>
              <a:rPr dirty="0"/>
            </a:br>
            <a:r>
              <a:rPr lang="en-US" sz="2100" b="1" i="0" dirty="0">
                <a:solidFill>
                  <a:srgbClr val="53301D"/>
                </a:solidFill>
                <a:latin typeface="Aptos"/>
              </a:rPr>
              <a:t>does not receive the campaign</a:t>
            </a:r>
            <a:endParaRPr sz="2100" b="1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4983480"/>
            <a:ext cx="9281160" cy="105156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74519" y="5193792"/>
            <a:ext cx="21488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19" b="1" dirty="0">
                <a:solidFill>
                  <a:srgbClr val="E07436"/>
                </a:solidFill>
                <a:latin typeface="Aptos"/>
              </a:rPr>
              <a:t>MEASURE INCREMENTAL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161788"/>
            <a:ext cx="635508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 dirty="0">
                <a:solidFill>
                  <a:srgbClr val="53301D"/>
                </a:solidFill>
                <a:latin typeface="Aptos"/>
              </a:rPr>
              <a:t>Incremental subscription rate = Target group rate </a:t>
            </a:r>
            <a:r>
              <a:rPr lang="en-US" sz="1200" b="1" dirty="0">
                <a:solidFill>
                  <a:srgbClr val="53301D"/>
                </a:solidFill>
                <a:latin typeface="Aptos"/>
              </a:rPr>
              <a:t>-</a:t>
            </a:r>
            <a:r>
              <a:rPr sz="1200" b="1" dirty="0">
                <a:solidFill>
                  <a:srgbClr val="53301D"/>
                </a:solidFill>
                <a:latin typeface="Aptos"/>
              </a:rPr>
              <a:t> Holdout group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596128"/>
            <a:ext cx="83667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0">
                <a:solidFill>
                  <a:srgbClr val="846D5B"/>
                </a:solidFill>
                <a:latin typeface="Aptos"/>
              </a:rPr>
              <a:t>This estimates the additional subscriptions associated with the campaign, beyond what may have happened anyway.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69B238-E8CC-5B83-BFA7-2857245B3676}"/>
              </a:ext>
            </a:extLst>
          </p:cNvPr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0BBE62-A732-DAF8-52FD-1C1A6E7A074B}"/>
              </a:ext>
            </a:extLst>
          </p:cNvPr>
          <p:cNvSpPr txBox="1"/>
          <p:nvPr/>
        </p:nvSpPr>
        <p:spPr>
          <a:xfrm>
            <a:off x="11475720" y="6318504"/>
            <a:ext cx="329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800" b="1" i="0" dirty="0">
                <a:solidFill>
                  <a:srgbClr val="FFFFFF"/>
                </a:solidFill>
                <a:latin typeface="Aptos"/>
              </a:rPr>
              <a:t>3</a:t>
            </a:r>
            <a:endParaRPr sz="80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3301D"/>
                </a:solidFill>
                <a:latin typeface="Aptos Display"/>
              </a:rPr>
              <a:t>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Use the model to prioritize customers, then improve the approach with real campaign results.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4688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205740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07436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3301D"/>
                </a:solidFill>
                <a:latin typeface="Aptos"/>
              </a:rPr>
              <a:t>Prioritize by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846D5B"/>
                </a:solidFill>
                <a:latin typeface="Aptos"/>
              </a:rPr>
              <a:t>Start with the highest-ranked customers when c</a:t>
            </a:r>
            <a:r>
              <a:rPr lang="en-US" sz="1000" b="0" i="0" dirty="0">
                <a:solidFill>
                  <a:srgbClr val="846D5B"/>
                </a:solidFill>
                <a:latin typeface="Aptos"/>
              </a:rPr>
              <a:t>ontact </a:t>
            </a:r>
            <a:r>
              <a:rPr sz="1000" b="0" i="0" dirty="0">
                <a:solidFill>
                  <a:srgbClr val="846D5B"/>
                </a:solidFill>
                <a:latin typeface="Aptos"/>
              </a:rPr>
              <a:t>capacity is limited.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83080"/>
            <a:ext cx="24688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02152" y="205740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2152" y="21396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5B3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8892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53301D"/>
                </a:solidFill>
                <a:latin typeface="Aptos"/>
              </a:rPr>
              <a:t>Use </a:t>
            </a:r>
            <a:r>
              <a:rPr lang="en-US" sz="1300" b="1" i="0" dirty="0">
                <a:solidFill>
                  <a:srgbClr val="53301D"/>
                </a:solidFill>
                <a:latin typeface="Aptos"/>
              </a:rPr>
              <a:t>customer history</a:t>
            </a:r>
            <a:endParaRPr sz="1300" b="1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1879" y="370332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846D5B"/>
                </a:solidFill>
                <a:latin typeface="Aptos"/>
              </a:rPr>
              <a:t>Previous campaign results and contact history can help identify higher-priority customers.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783080"/>
            <a:ext cx="24688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245352" y="205740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2" y="21396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D9D5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53301D"/>
                </a:solidFill>
                <a:latin typeface="Aptos"/>
              </a:rPr>
              <a:t>Refresh over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192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Customer behavior changes over time, so model performance should be reviewed regularly.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823960" y="1783080"/>
            <a:ext cx="2468880" cy="333756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988552" y="2057400"/>
            <a:ext cx="502920" cy="50292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88552" y="21396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4C5B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8892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53301D"/>
                </a:solidFill>
                <a:latin typeface="Aptos"/>
              </a:rPr>
              <a:t>Measure</a:t>
            </a:r>
            <a:r>
              <a:rPr lang="en-US" sz="1300" b="1" dirty="0">
                <a:solidFill>
                  <a:srgbClr val="53301D"/>
                </a:solidFill>
                <a:latin typeface="Aptos"/>
              </a:rPr>
              <a:t> and</a:t>
            </a:r>
            <a:r>
              <a:rPr sz="1300" b="1" i="0" dirty="0">
                <a:solidFill>
                  <a:srgbClr val="53301D"/>
                </a:solidFill>
                <a:latin typeface="Aptos"/>
              </a:rPr>
              <a:t> 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703320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846D5B"/>
                </a:solidFill>
                <a:latin typeface="Aptos"/>
              </a:rPr>
              <a:t>Use a holdout group</a:t>
            </a:r>
            <a:r>
              <a:rPr lang="en-US" sz="1000" b="0" i="0" dirty="0">
                <a:solidFill>
                  <a:srgbClr val="846D5B"/>
                </a:solidFill>
                <a:latin typeface="Aptos"/>
              </a:rPr>
              <a:t> to measure campaign impact and improve future targeting.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846D5B"/>
                </a:solidFill>
                <a:latin typeface="Aptos"/>
              </a:rPr>
              <a:t>What I would improve before using this approach in a live campaign.</a:t>
            </a:r>
            <a:endParaRPr sz="1000" b="0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257800" cy="3931920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34340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 The data comes from historical bank telemarketing campaigns.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Customer behavior changes significantly over time.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The model predicts likelihood to subscribe, not the effect of the campaign itself.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 Campaign cost and customer value are not available in the dataset.</a:t>
            </a:r>
            <a:endParaRPr sz="115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212080" cy="393192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5B3D"/>
                </a:solidFill>
                <a:latin typeface="Aptos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25196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Test the targeting strategy with a random holdout group.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Add campaign cost and customer value to measure financial impact.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Monitor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model performance as customer behavior changes.</a:t>
            </a:r>
            <a:endParaRPr sz="1150" dirty="0">
              <a:solidFill>
                <a:srgbClr val="53301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53301D"/>
                </a:solidFill>
                <a:latin typeface="Aptos"/>
              </a:rPr>
              <a:t>• </a:t>
            </a:r>
            <a:r>
              <a:rPr lang="en-US" sz="1150" dirty="0">
                <a:solidFill>
                  <a:srgbClr val="53301D"/>
                </a:solidFill>
                <a:latin typeface="Aptos"/>
              </a:rPr>
              <a:t>Retrain the model when performance begins to decline</a:t>
            </a:r>
            <a:r>
              <a:rPr sz="1150" dirty="0">
                <a:solidFill>
                  <a:srgbClr val="53301D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436"/>
                </a:solidFill>
                <a:latin typeface="Aptos"/>
              </a:rPr>
              <a:t>PORTFOLIO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3301D"/>
                </a:solidFill>
                <a:latin typeface="Aptos Display"/>
              </a:rPr>
              <a:t>What This Project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960120" cy="32004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31850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24612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0292" cy="1024128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01952"/>
            <a:ext cx="2971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846D5B"/>
                </a:solidFill>
                <a:latin typeface="Aptos"/>
              </a:rPr>
              <a:t>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18056"/>
            <a:ext cx="2971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i="0" dirty="0">
                <a:solidFill>
                  <a:srgbClr val="53301D"/>
                </a:solidFill>
                <a:latin typeface="Aptos"/>
              </a:rPr>
              <a:t>Turn a broad prediction problem into a clear targeting decision.</a:t>
            </a:r>
            <a:endParaRPr sz="1100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60" y="1783080"/>
            <a:ext cx="324612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50292" cy="1024128"/>
          </a:xfrm>
          <a:prstGeom prst="rect">
            <a:avLst/>
          </a:prstGeom>
          <a:solidFill>
            <a:srgbClr val="CD9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901952"/>
            <a:ext cx="2971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846D5B"/>
                </a:solidFill>
                <a:latin typeface="Aptos"/>
              </a:rP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18056"/>
            <a:ext cx="2971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i="0" dirty="0">
                <a:solidFill>
                  <a:srgbClr val="53301D"/>
                </a:solidFill>
                <a:latin typeface="Aptos"/>
              </a:rPr>
              <a:t>Compare different approaches and choose the model that works best for the decision.</a:t>
            </a:r>
            <a:endParaRPr sz="1100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21040" y="1783080"/>
            <a:ext cx="3246120" cy="1024128"/>
          </a:xfrm>
          <a:prstGeom prst="roundRect">
            <a:avLst/>
          </a:prstGeom>
          <a:solidFill>
            <a:srgbClr val="F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783080"/>
            <a:ext cx="50292" cy="1024128"/>
          </a:xfrm>
          <a:prstGeom prst="rect">
            <a:avLst/>
          </a:prstGeom>
          <a:solidFill>
            <a:srgbClr val="BB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1901952"/>
            <a:ext cx="2971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846D5B"/>
                </a:solidFill>
                <a:latin typeface="Aptos"/>
              </a:rPr>
              <a:t>DELIVERY</a:t>
            </a:r>
            <a:endParaRPr sz="1200" b="1" i="0" dirty="0">
              <a:solidFill>
                <a:srgbClr val="846D5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19" y="2218056"/>
            <a:ext cx="2971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i="0" dirty="0">
                <a:solidFill>
                  <a:srgbClr val="53301D"/>
                </a:solidFill>
                <a:latin typeface="Aptos"/>
              </a:rPr>
              <a:t>Turn model scores into a contact strategy that can be measured and improved.</a:t>
            </a:r>
            <a:endParaRPr sz="1100" i="0" dirty="0">
              <a:solidFill>
                <a:srgbClr val="53301D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46D5B"/>
                </a:solidFill>
                <a:latin typeface="Aptos"/>
              </a:rPr>
              <a:t>CAMPAIGN TARGETING INTELLIGENCE  •  DATA ANALYST PORTFOLIO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166360"/>
            <a:ext cx="8549640" cy="777240"/>
          </a:xfrm>
          <a:prstGeom prst="roundRect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3301D"/>
                </a:solidFill>
                <a:latin typeface="Aptos"/>
              </a:rPr>
              <a:t>At 20% contact capacity, the ranked list captures 38.5% of subscribers in the test period.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14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436"/>
                </a:solidFill>
                <a:latin typeface="Aptos"/>
              </a:rPr>
              <a:t>CAMPAIGN TARGETING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6400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53301D"/>
                </a:solidFill>
                <a:latin typeface="Aptos Display"/>
              </a:rPr>
              <a:t>From model score</a:t>
            </a:r>
            <a:r>
              <a:t/>
            </a:r>
            <a:br/>
            <a:r>
              <a:rPr sz="3400" b="1" i="0">
                <a:solidFill>
                  <a:srgbClr val="53301D"/>
                </a:solidFill>
                <a:latin typeface="Aptos Display"/>
              </a:rPr>
              <a:t>to a clear campaign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337560"/>
            <a:ext cx="7040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0" dirty="0">
                <a:solidFill>
                  <a:srgbClr val="BB5B3D"/>
                </a:solidFill>
                <a:latin typeface="Aptos"/>
              </a:rPr>
              <a:t>Python</a:t>
            </a:r>
            <a:r>
              <a:rPr sz="1300" b="0" i="0" dirty="0">
                <a:solidFill>
                  <a:srgbClr val="BB5B3D"/>
                </a:solidFill>
                <a:latin typeface="Aptos"/>
              </a:rPr>
              <a:t> • </a:t>
            </a:r>
            <a:r>
              <a:rPr lang="en-US" sz="1300" b="0" i="0" dirty="0">
                <a:solidFill>
                  <a:srgbClr val="BB5B3D"/>
                </a:solidFill>
                <a:latin typeface="Aptos"/>
              </a:rPr>
              <a:t>Machine Learning</a:t>
            </a:r>
            <a:r>
              <a:rPr sz="1300" b="0" i="0" dirty="0">
                <a:solidFill>
                  <a:srgbClr val="BB5B3D"/>
                </a:solidFill>
                <a:latin typeface="Aptos"/>
              </a:rPr>
              <a:t> • </a:t>
            </a:r>
            <a:r>
              <a:rPr lang="en-US" sz="1300" b="0" i="0" dirty="0">
                <a:solidFill>
                  <a:srgbClr val="BB5B3D"/>
                </a:solidFill>
                <a:latin typeface="Aptos"/>
              </a:rPr>
              <a:t>Customer Analytics</a:t>
            </a:r>
            <a:r>
              <a:rPr sz="1300" b="0" i="0" dirty="0">
                <a:solidFill>
                  <a:srgbClr val="BB5B3D"/>
                </a:solidFill>
                <a:latin typeface="Aptos"/>
              </a:rPr>
              <a:t> • </a:t>
            </a:r>
            <a:r>
              <a:rPr lang="en-US" sz="1300" b="0" i="0" dirty="0">
                <a:solidFill>
                  <a:srgbClr val="BB5B3D"/>
                </a:solidFill>
                <a:latin typeface="Aptos"/>
              </a:rPr>
              <a:t>Business Decision Support</a:t>
            </a:r>
            <a:endParaRPr sz="1300" b="0" i="0" dirty="0">
              <a:solidFill>
                <a:srgbClr val="BB5B3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3232" y="4160520"/>
            <a:ext cx="5486400" cy="50292"/>
          </a:xfrm>
          <a:prstGeom prst="rect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617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482F"/>
                </a:solidFill>
                <a:latin typeface="Aptos"/>
              </a:rPr>
              <a:t>Thi Vu  |  Data Analyst Portfolio</a:t>
            </a:r>
          </a:p>
        </p:txBody>
      </p:sp>
      <p:sp>
        <p:nvSpPr>
          <p:cNvPr id="7" name="Oval 6"/>
          <p:cNvSpPr/>
          <p:nvPr/>
        </p:nvSpPr>
        <p:spPr>
          <a:xfrm>
            <a:off x="8458200" y="1828800"/>
            <a:ext cx="2194560" cy="2194560"/>
          </a:xfrm>
          <a:prstGeom prst="ellipse">
            <a:avLst/>
          </a:prstGeom>
          <a:solidFill>
            <a:srgbClr val="F4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0" y="2148840"/>
            <a:ext cx="1554480" cy="1554480"/>
          </a:xfrm>
          <a:prstGeom prst="ellipse">
            <a:avLst/>
          </a:prstGeom>
          <a:solidFill>
            <a:srgbClr val="E0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075420" y="2446020"/>
            <a:ext cx="960120" cy="960120"/>
          </a:xfrm>
          <a:prstGeom prst="ellipse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49740" y="2720340"/>
            <a:ext cx="411480" cy="411480"/>
          </a:xfrm>
          <a:prstGeom prst="ellipse">
            <a:avLst/>
          </a:prstGeom>
          <a:solidFill>
            <a:srgbClr val="BB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475720" y="6281928"/>
            <a:ext cx="329184" cy="329184"/>
          </a:xfrm>
          <a:prstGeom prst="ellipse">
            <a:avLst/>
          </a:prstGeom>
          <a:solidFill>
            <a:srgbClr val="53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9144" y="6318504"/>
            <a:ext cx="4023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1295</Words>
  <Application>Microsoft Office PowerPoint</Application>
  <PresentationFormat>Widescreen</PresentationFormat>
  <Paragraphs>256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MyPC</cp:lastModifiedBy>
  <cp:revision>44</cp:revision>
  <dcterms:created xsi:type="dcterms:W3CDTF">2013-01-27T09:14:16Z</dcterms:created>
  <dcterms:modified xsi:type="dcterms:W3CDTF">2026-09-07T17:09:52Z</dcterms:modified>
  <cp:category/>
</cp:coreProperties>
</file>